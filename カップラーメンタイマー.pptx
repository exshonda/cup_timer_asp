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0"/>
  </p:notesMasterIdLst>
  <p:handoutMasterIdLst>
    <p:handoutMasterId r:id="rId11"/>
  </p:handoutMasterIdLst>
  <p:sldIdLst>
    <p:sldId id="836" r:id="rId2"/>
    <p:sldId id="876" r:id="rId3"/>
    <p:sldId id="877" r:id="rId4"/>
    <p:sldId id="878" r:id="rId5"/>
    <p:sldId id="837" r:id="rId6"/>
    <p:sldId id="838" r:id="rId7"/>
    <p:sldId id="839" r:id="rId8"/>
    <p:sldId id="840" r:id="rId9"/>
  </p:sldIdLst>
  <p:sldSz cx="9144000" cy="6858000" type="screen4x3"/>
  <p:notesSz cx="6735763" cy="98663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ＭＳ ゴシック" pitchFamily="49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ＭＳ ゴシック" pitchFamily="49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ＭＳ ゴシック" pitchFamily="49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ＭＳ ゴシック" pitchFamily="49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ＭＳ ゴシック" pitchFamily="49" charset="-128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ＭＳ ゴシック" pitchFamily="49" charset="-128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ＭＳ ゴシック" pitchFamily="49" charset="-128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ＭＳ ゴシック" pitchFamily="49" charset="-128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ＭＳ ゴシック" pitchFamily="49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66FFFF"/>
    <a:srgbClr val="FF66CC"/>
    <a:srgbClr val="FF0000"/>
    <a:srgbClr val="FF33CC"/>
    <a:srgbClr val="EAEAEA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 autoAdjust="0"/>
    <p:restoredTop sz="94394" autoAdjust="0"/>
  </p:normalViewPr>
  <p:slideViewPr>
    <p:cSldViewPr snapToGrid="0">
      <p:cViewPr varScale="1">
        <p:scale>
          <a:sx n="114" d="100"/>
          <a:sy n="114" d="100"/>
        </p:scale>
        <p:origin x="1398" y="96"/>
      </p:cViewPr>
      <p:guideLst>
        <p:guide orient="horz" pos="2176"/>
        <p:guide pos="2880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-2202" y="-96"/>
      </p:cViewPr>
      <p:guideLst>
        <p:guide orient="horz" pos="3107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5" Type="http://schemas.openxmlformats.org/officeDocument/2006/relationships/slide" Target="slides/slide5.xml"/><Relationship Id="rId4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3" rIns="91408" bIns="45703" numCol="1" anchor="t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4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3" rIns="91408" bIns="45703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0000"/>
              </a:lnSpc>
              <a:spcBef>
                <a:spcPct val="20000"/>
              </a:spcBef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4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3" rIns="91408" bIns="45703" numCol="1" anchor="b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4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3" rIns="91408" bIns="45703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0000"/>
              </a:lnSpc>
              <a:spcBef>
                <a:spcPct val="20000"/>
              </a:spcBef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D5F9FFA3-5E6B-4492-9A53-80884915C6D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0989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3" rIns="91408" bIns="45703" numCol="1" anchor="t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3" rIns="91408" bIns="45703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0000"/>
              </a:lnSpc>
              <a:spcBef>
                <a:spcPct val="20000"/>
              </a:spcBef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3" rIns="91408" bIns="457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3" rIns="91408" bIns="45703" numCol="1" anchor="b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8" tIns="45703" rIns="91408" bIns="45703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0000"/>
              </a:lnSpc>
              <a:spcBef>
                <a:spcPct val="20000"/>
              </a:spcBef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FCAD6F5B-C574-4489-91B1-A41468D4C3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649176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32E61C-74FE-4DA1-B2F8-09BAF285DCAB}" type="slidenum">
              <a:rPr lang="en-US" altLang="ja-JP" smtClean="0"/>
              <a:pPr/>
              <a:t>1</a:t>
            </a:fld>
            <a:endParaRPr lang="en-US" altLang="ja-JP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193803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F16820-71CC-4099-AD91-DDA6C35B9288}" type="slidenum">
              <a:rPr lang="en-US" altLang="ja-JP" smtClean="0"/>
              <a:pPr/>
              <a:t>2</a:t>
            </a:fld>
            <a:endParaRPr lang="en-US" altLang="ja-JP"/>
          </a:p>
        </p:txBody>
      </p:sp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2247283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377F4F-869D-4589-8C8A-B63F22371CA7}" type="slidenum">
              <a:rPr lang="en-US" altLang="ja-JP" smtClean="0"/>
              <a:pPr/>
              <a:t>3</a:t>
            </a:fld>
            <a:endParaRPr lang="en-US" altLang="ja-JP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1802024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D2FB02-B589-4720-9C74-826ACDAEF441}" type="slidenum">
              <a:rPr lang="en-US" altLang="ja-JP" smtClean="0"/>
              <a:pPr/>
              <a:t>4</a:t>
            </a:fld>
            <a:endParaRPr lang="en-US" altLang="ja-JP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197695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5B1B59-6024-4D4F-B791-9B5DEAE0732A}" type="slidenum">
              <a:rPr lang="en-US" altLang="ja-JP" smtClean="0"/>
              <a:pPr/>
              <a:t>5</a:t>
            </a:fld>
            <a:endParaRPr lang="en-US" altLang="ja-JP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2516940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14A75D-2442-4158-8463-7A582F53B658}" type="slidenum">
              <a:rPr lang="en-US" altLang="ja-JP" smtClean="0"/>
              <a:pPr/>
              <a:t>6</a:t>
            </a:fld>
            <a:endParaRPr lang="en-US" altLang="ja-JP"/>
          </a:p>
        </p:txBody>
      </p:sp>
      <p:sp>
        <p:nvSpPr>
          <p:cNvPr id="135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3194508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D21D5B-4D3B-43B2-9028-9A4684BAA202}" type="slidenum">
              <a:rPr lang="en-US" altLang="ja-JP" smtClean="0"/>
              <a:pPr/>
              <a:t>7</a:t>
            </a:fld>
            <a:endParaRPr lang="en-US" altLang="ja-JP"/>
          </a:p>
        </p:txBody>
      </p:sp>
      <p:sp>
        <p:nvSpPr>
          <p:cNvPr id="135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681877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4F6985-7F33-4F1E-B664-CF263A0A6DE7}" type="slidenum">
              <a:rPr lang="en-US" altLang="ja-JP" smtClean="0"/>
              <a:pPr/>
              <a:t>8</a:t>
            </a:fld>
            <a:endParaRPr lang="en-US" altLang="ja-JP"/>
          </a:p>
        </p:txBody>
      </p:sp>
      <p:sp>
        <p:nvSpPr>
          <p:cNvPr id="135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3830602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6534150"/>
            <a:ext cx="91440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2051050" y="6562725"/>
            <a:ext cx="5048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45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latin typeface="メイリオ" pitchFamily="50" charset="-128"/>
                <a:ea typeface="メイリオ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1345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092200"/>
          </a:xfrm>
        </p:spPr>
        <p:txBody>
          <a:bodyPr/>
          <a:lstStyle>
            <a:lvl1pPr marL="0" indent="0" algn="ctr">
              <a:buFontTx/>
              <a:buNone/>
              <a:defRPr sz="2000">
                <a:latin typeface="メイリオ" pitchFamily="50" charset="-128"/>
                <a:ea typeface="メイリオ" pitchFamily="50" charset="-128"/>
              </a:defRPr>
            </a:lvl1pPr>
          </a:lstStyle>
          <a:p>
            <a:endParaRPr lang="ja-JP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553200"/>
            <a:ext cx="1905000" cy="304800"/>
          </a:xfrm>
        </p:spPr>
        <p:txBody>
          <a:bodyPr/>
          <a:lstStyle>
            <a:lvl1pPr>
              <a:defRPr>
                <a:latin typeface="メイリオ" pitchFamily="50" charset="-128"/>
                <a:ea typeface="メイリオ" pitchFamily="50" charset="-128"/>
              </a:defRPr>
            </a:lvl1pPr>
          </a:lstStyle>
          <a:p>
            <a:pPr>
              <a:defRPr/>
            </a:pPr>
            <a:r>
              <a:rPr lang="en-US" altLang="ja-JP"/>
              <a:t>12-</a:t>
            </a:r>
            <a:fld id="{B3325331-737A-4F68-A6B9-E14CC5DDE33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ja-JP" altLang="en-US" sz="24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ja-JP" altLang="en-US" sz="24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ja-JP" altLang="en-US" sz="24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ja-JP" altLang="en-US" sz="24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ja-JP" altLang="en-US" sz="24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+mn-cs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A4964774-7B05-44A0-B471-8A7C9D589FA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AD5562BA-8592-427C-A3A3-3C192DA504D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62000" y="958850"/>
            <a:ext cx="3810000" cy="5445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24400" y="958850"/>
            <a:ext cx="3810000" cy="5445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BC03B536-F53F-402F-A43E-48E76DEF5D3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B1CA8D94-C8A2-43AD-A536-E3C2F9A94BE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F42524A8-4F46-452C-9AD7-B95260FD0DF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16C63265-A29B-40F6-8D25-0156A3EC79E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C33884BE-D25F-452D-AA63-ED477E59747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D63141DA-1507-4F60-8B70-E0130DF9A8F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E48BF4AF-7AC5-4260-973F-81EDB8F750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72250" y="228600"/>
            <a:ext cx="1962150" cy="617537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734050" cy="617537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34F75264-196B-4E05-94FD-A43976EDC2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762000" y="958850"/>
            <a:ext cx="3810000" cy="5445125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24400" y="958850"/>
            <a:ext cx="3810000" cy="5445125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12-</a:t>
            </a:r>
            <a:fld id="{ED48B319-AA90-4D4E-9A64-DA1526502BD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958850"/>
            <a:ext cx="7772400" cy="544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pic>
        <p:nvPicPr>
          <p:cNvPr id="1028" name="Picture 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6534150"/>
            <a:ext cx="91440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7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2051050" y="6562725"/>
            <a:ext cx="5048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35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25738" y="6597650"/>
            <a:ext cx="280828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000">
                <a:latin typeface="メイリオ" pitchFamily="50" charset="-128"/>
                <a:ea typeface="メイリオ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335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400">
                <a:latin typeface="メイリオ" pitchFamily="50" charset="-128"/>
                <a:ea typeface="メイリオ" pitchFamily="50" charset="-128"/>
              </a:defRPr>
            </a:lvl1pPr>
          </a:lstStyle>
          <a:p>
            <a:pPr>
              <a:defRPr/>
            </a:pPr>
            <a:r>
              <a:rPr lang="en-US" altLang="ja-JP"/>
              <a:t>12-</a:t>
            </a:r>
            <a:fld id="{94B9846F-8026-4FB0-A2BA-5EA8DEE9588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133577" name="Line 9"/>
          <p:cNvSpPr>
            <a:spLocks noChangeShapeType="1"/>
          </p:cNvSpPr>
          <p:nvPr/>
        </p:nvSpPr>
        <p:spPr bwMode="auto">
          <a:xfrm>
            <a:off x="304800" y="820738"/>
            <a:ext cx="8496300" cy="0"/>
          </a:xfrm>
          <a:prstGeom prst="line">
            <a:avLst/>
          </a:prstGeom>
          <a:noFill/>
          <a:ln w="19050">
            <a:solidFill>
              <a:srgbClr val="A4DE00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ja-JP" altLang="en-US">
              <a:latin typeface="メイリオ" pitchFamily="50" charset="-128"/>
              <a:ea typeface="メイリオ" pitchFamily="5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7" r:id="rId2"/>
    <p:sldLayoutId id="2147483666" r:id="rId3"/>
    <p:sldLayoutId id="2147483665" r:id="rId4"/>
    <p:sldLayoutId id="2147483664" r:id="rId5"/>
    <p:sldLayoutId id="2147483663" r:id="rId6"/>
    <p:sldLayoutId id="2147483662" r:id="rId7"/>
    <p:sldLayoutId id="2147483661" r:id="rId8"/>
    <p:sldLayoutId id="2147483660" r:id="rId9"/>
    <p:sldLayoutId id="2147483659" r:id="rId10"/>
    <p:sldLayoutId id="2147483658" r:id="rId11"/>
    <p:sldLayoutId id="214748365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メイリオ" pitchFamily="50" charset="-128"/>
          <a:ea typeface="メイリオ" pitchFamily="50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メイリオ" pitchFamily="50" charset="-128"/>
          <a:ea typeface="メイリオ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メイリオ" pitchFamily="50" charset="-128"/>
          <a:ea typeface="メイリオ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メイリオ" pitchFamily="50" charset="-128"/>
          <a:ea typeface="メイリオ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メイリオ" pitchFamily="50" charset="-128"/>
          <a:ea typeface="メイリオ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ＭＳ Ｐゴシック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ＭＳ Ｐゴシック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ＭＳ Ｐゴシック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lang="ja-JP" altLang="en-US" sz="2400" dirty="0">
          <a:solidFill>
            <a:schemeClr val="tx1"/>
          </a:solidFill>
          <a:latin typeface="メイリオ" pitchFamily="50" charset="-128"/>
          <a:ea typeface="メイリオ" pitchFamily="5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lang="ja-JP" altLang="en-US" sz="2400" dirty="0">
          <a:solidFill>
            <a:schemeClr val="tx1"/>
          </a:solidFill>
          <a:latin typeface="メイリオ" pitchFamily="50" charset="-128"/>
          <a:ea typeface="メイリオ" pitchFamily="5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lang="ja-JP" altLang="en-US" sz="2400" dirty="0">
          <a:solidFill>
            <a:schemeClr val="tx1"/>
          </a:solidFill>
          <a:latin typeface="メイリオ" pitchFamily="50" charset="-128"/>
          <a:ea typeface="メイリオ" pitchFamily="5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lang="ja-JP" altLang="en-US" sz="2400" dirty="0">
          <a:solidFill>
            <a:schemeClr val="tx1"/>
          </a:solidFill>
          <a:latin typeface="メイリオ" pitchFamily="50" charset="-128"/>
          <a:ea typeface="メイリオ" pitchFamily="5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lang="ja-JP" altLang="en-US" sz="2400" dirty="0">
          <a:solidFill>
            <a:schemeClr val="tx1"/>
          </a:solidFill>
          <a:latin typeface="メイリオ" pitchFamily="50" charset="-128"/>
          <a:ea typeface="メイリオ" pitchFamily="50" charset="-128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600200"/>
            <a:ext cx="7772400" cy="457200"/>
          </a:xfrm>
        </p:spPr>
        <p:txBody>
          <a:bodyPr/>
          <a:lstStyle/>
          <a:p>
            <a:pPr eaLnBrk="1" hangingPunct="1"/>
            <a:r>
              <a:rPr lang="ja-JP" altLang="en-US" sz="3200" b="1">
                <a:solidFill>
                  <a:srgbClr val="99CC00"/>
                </a:solidFill>
              </a:rPr>
              <a:t>カップラーメンタイマーの実装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43475" y="3429000"/>
            <a:ext cx="3849688" cy="2133600"/>
          </a:xfrm>
        </p:spPr>
        <p:txBody>
          <a:bodyPr/>
          <a:lstStyle/>
          <a:p>
            <a:pPr marL="457200" indent="-457200" eaLnBrk="1" hangingPunct="1">
              <a:buFontTx/>
              <a:buAutoNum type="arabicPeriod"/>
            </a:pPr>
            <a:r>
              <a:rPr u="sng">
                <a:solidFill>
                  <a:srgbClr val="FF0066"/>
                </a:solidFill>
              </a:rPr>
              <a:t>仕様</a:t>
            </a:r>
          </a:p>
          <a:p>
            <a:pPr marL="457200" indent="-457200" eaLnBrk="1" hangingPunct="1">
              <a:buFontTx/>
              <a:buAutoNum type="arabicPeriod"/>
            </a:pPr>
            <a:r>
              <a:t>設計</a:t>
            </a:r>
          </a:p>
          <a:p>
            <a:pPr marL="457200" indent="-457200" eaLnBrk="1" hangingPunct="1">
              <a:buFontTx/>
              <a:buAutoNum type="arabicPeriod"/>
            </a:pPr>
            <a:r>
              <a:t>実装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12-</a:t>
            </a:r>
            <a:fld id="{A4964774-7B05-44A0-B471-8A7C9D589FA5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カップラーメンタイマの仕様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991475" cy="4870450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tabLst>
                <a:tab pos="1624013" algn="l"/>
              </a:tabLst>
            </a:pPr>
            <a:r>
              <a:t>概要</a:t>
            </a:r>
          </a:p>
          <a:p>
            <a:pPr lvl="1" eaLnBrk="1" hangingPunct="1">
              <a:buFont typeface="Arial" charset="0"/>
              <a:buChar char="•"/>
              <a:tabLst>
                <a:tab pos="1624013" algn="l"/>
              </a:tabLst>
            </a:pPr>
            <a:r>
              <a:t>タイマを起動してから、設定した時間が経過したことを知らせる</a:t>
            </a:r>
          </a:p>
          <a:p>
            <a:pPr lvl="1" eaLnBrk="1" hangingPunct="1">
              <a:buFont typeface="Arial" charset="0"/>
              <a:buChar char="•"/>
              <a:tabLst>
                <a:tab pos="1624013" algn="l"/>
              </a:tabLst>
            </a:pPr>
            <a:r>
              <a:t>設定時間は</a:t>
            </a:r>
            <a:r>
              <a:rPr lang="en-US" altLang="ja-JP"/>
              <a:t>30</a:t>
            </a:r>
            <a:r>
              <a:t>秒刻みで設定できる</a:t>
            </a:r>
          </a:p>
          <a:p>
            <a:pPr eaLnBrk="1" hangingPunct="1">
              <a:buFont typeface="Arial" charset="0"/>
              <a:buChar char="•"/>
              <a:tabLst>
                <a:tab pos="1624013" algn="l"/>
              </a:tabLst>
            </a:pPr>
            <a:r>
              <a:t>スイッチと</a:t>
            </a:r>
            <a:r>
              <a:rPr lang="en-US" altLang="ja-JP"/>
              <a:t>LED</a:t>
            </a:r>
            <a:r>
              <a:t>の使い方</a:t>
            </a:r>
          </a:p>
          <a:p>
            <a:pPr lvl="1" eaLnBrk="1" hangingPunct="1">
              <a:buFont typeface="Arial" charset="0"/>
              <a:buChar char="•"/>
              <a:tabLst>
                <a:tab pos="1624013" algn="l"/>
              </a:tabLst>
            </a:pPr>
            <a:r>
              <a:rPr lang="en-US" altLang="ja-JP"/>
              <a:t>LED1 		: </a:t>
            </a:r>
            <a:r>
              <a:t>電源が</a:t>
            </a:r>
            <a:r>
              <a:rPr lang="en-US" altLang="ja-JP"/>
              <a:t>ON</a:t>
            </a:r>
            <a:r>
              <a:t>であること</a:t>
            </a:r>
            <a:br>
              <a:rPr/>
            </a:br>
            <a:r>
              <a:t>              （プログラムが動いていること）を表示</a:t>
            </a:r>
          </a:p>
          <a:p>
            <a:pPr lvl="1" eaLnBrk="1" hangingPunct="1">
              <a:buFont typeface="Arial" charset="0"/>
              <a:buChar char="•"/>
              <a:tabLst>
                <a:tab pos="1624013" algn="l"/>
              </a:tabLst>
            </a:pPr>
            <a:r>
              <a:rPr lang="en-US" altLang="ja-JP"/>
              <a:t>LED2		: PUSH1</a:t>
            </a:r>
            <a:r>
              <a:t>が押されたことを表示</a:t>
            </a:r>
          </a:p>
          <a:p>
            <a:pPr lvl="1" eaLnBrk="1" hangingPunct="1">
              <a:buFont typeface="Arial" charset="0"/>
              <a:buChar char="•"/>
              <a:tabLst>
                <a:tab pos="1624013" algn="l"/>
              </a:tabLst>
            </a:pPr>
            <a:r>
              <a:rPr lang="en-US" altLang="ja-JP"/>
              <a:t>LED4	 	: </a:t>
            </a:r>
            <a:r>
              <a:t>タイマが動いていることを表示</a:t>
            </a:r>
          </a:p>
          <a:p>
            <a:pPr lvl="1" eaLnBrk="1" hangingPunct="1">
              <a:buFont typeface="Arial" charset="0"/>
              <a:buChar char="•"/>
              <a:tabLst>
                <a:tab pos="1624013" algn="l"/>
              </a:tabLst>
            </a:pPr>
            <a:r>
              <a:rPr lang="en-US" altLang="ja-JP"/>
              <a:t>SW1	 	: </a:t>
            </a:r>
            <a:r>
              <a:t>タイマを起動・停止</a:t>
            </a:r>
          </a:p>
          <a:p>
            <a:pPr lvl="1" eaLnBrk="1" hangingPunct="1">
              <a:buFont typeface="Arial" charset="0"/>
              <a:buChar char="•"/>
              <a:tabLst>
                <a:tab pos="1624013" algn="l"/>
              </a:tabLst>
            </a:pPr>
            <a:r>
              <a:rPr lang="en-US" altLang="ja-JP"/>
              <a:t>PUSH1	: </a:t>
            </a:r>
            <a:r>
              <a:t>設定時間を</a:t>
            </a:r>
            <a:r>
              <a:rPr lang="en-US" altLang="ja-JP"/>
              <a:t>30</a:t>
            </a:r>
            <a:r>
              <a:t>秒延長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12-</a:t>
            </a:r>
            <a:fld id="{A4964774-7B05-44A0-B471-8A7C9D589FA5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カップラーメンタイマの仕様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2263" y="942975"/>
            <a:ext cx="8534400" cy="3581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Char char="•"/>
            </a:pPr>
            <a:r>
              <a:rPr sz="2000"/>
              <a:t>外部仕様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sz="2000"/>
              <a:t>電源を</a:t>
            </a:r>
            <a:r>
              <a:rPr lang="en-US" altLang="ja-JP" sz="2000"/>
              <a:t>ON</a:t>
            </a:r>
            <a:r>
              <a:rPr sz="2000"/>
              <a:t>の間（プログラムが動いている間）、</a:t>
            </a:r>
            <a:r>
              <a:rPr lang="en-US" altLang="ja-JP" sz="2000"/>
              <a:t>LED1</a:t>
            </a:r>
            <a:r>
              <a:rPr sz="2000"/>
              <a:t>の点灯・消灯を</a:t>
            </a:r>
            <a:r>
              <a:rPr lang="en-US" altLang="ja-JP" sz="2000"/>
              <a:t>1</a:t>
            </a:r>
            <a:r>
              <a:rPr sz="2000"/>
              <a:t>秒間隔で繰り返す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altLang="ja-JP" sz="2000"/>
              <a:t>SW1</a:t>
            </a:r>
            <a:r>
              <a:rPr sz="2000"/>
              <a:t>が</a:t>
            </a:r>
            <a:r>
              <a:rPr lang="en-US" altLang="ja-JP" sz="2000"/>
              <a:t>ON</a:t>
            </a:r>
            <a:r>
              <a:rPr sz="2000"/>
              <a:t>になると設定時間を</a:t>
            </a:r>
            <a:r>
              <a:rPr lang="en-US" altLang="ja-JP" sz="2000"/>
              <a:t>30</a:t>
            </a:r>
            <a:r>
              <a:rPr sz="2000"/>
              <a:t>秒にして、タイマを起動する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altLang="ja-JP" sz="2000"/>
              <a:t>SW1</a:t>
            </a:r>
            <a:r>
              <a:rPr sz="2000"/>
              <a:t>が</a:t>
            </a:r>
            <a:r>
              <a:rPr lang="en-US" altLang="ja-JP" sz="2000"/>
              <a:t>OFF</a:t>
            </a:r>
            <a:r>
              <a:rPr sz="2000"/>
              <a:t>になると、タイマを停止する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sz="2000"/>
              <a:t>タイマが動いている間に</a:t>
            </a:r>
            <a:r>
              <a:rPr lang="en-US" altLang="ja-JP" sz="2000"/>
              <a:t>PUSH1</a:t>
            </a:r>
            <a:r>
              <a:rPr sz="2000"/>
              <a:t>が</a:t>
            </a:r>
            <a:r>
              <a:rPr lang="en-US" altLang="ja-JP" sz="2000"/>
              <a:t>ON</a:t>
            </a:r>
            <a:r>
              <a:rPr sz="2000"/>
              <a:t>になると、</a:t>
            </a:r>
            <a:r>
              <a:rPr lang="en-US" altLang="ja-JP" sz="2000"/>
              <a:t>ON</a:t>
            </a:r>
            <a:r>
              <a:rPr sz="2000"/>
              <a:t>の間</a:t>
            </a:r>
            <a:r>
              <a:rPr lang="en-US" altLang="ja-JP" sz="2000"/>
              <a:t>LED2</a:t>
            </a:r>
            <a:r>
              <a:rPr sz="2000"/>
              <a:t>を点灯させ、設定時間を</a:t>
            </a:r>
            <a:r>
              <a:rPr lang="en-US" altLang="ja-JP" sz="2000"/>
              <a:t>30</a:t>
            </a:r>
            <a:r>
              <a:rPr sz="2000"/>
              <a:t>秒延長する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sz="2000"/>
              <a:t>タイマが動いている間は、</a:t>
            </a:r>
            <a:r>
              <a:rPr lang="en-US" altLang="ja-JP" sz="2000"/>
              <a:t>10</a:t>
            </a:r>
            <a:r>
              <a:rPr sz="2000"/>
              <a:t>秒間隔で、</a:t>
            </a:r>
            <a:r>
              <a:rPr lang="en-US" altLang="ja-JP" sz="2000"/>
              <a:t>LED4</a:t>
            </a:r>
            <a:r>
              <a:rPr sz="2000"/>
              <a:t>を</a:t>
            </a:r>
            <a:r>
              <a:rPr lang="en-US" altLang="ja-JP" sz="2000"/>
              <a:t>2</a:t>
            </a:r>
            <a:r>
              <a:rPr sz="2000"/>
              <a:t>回点滅させる．</a:t>
            </a:r>
            <a:r>
              <a:rPr lang="en-US" altLang="ja-JP" sz="2000"/>
              <a:t>LED4</a:t>
            </a:r>
            <a:r>
              <a:rPr sz="2000"/>
              <a:t>の</a:t>
            </a:r>
            <a:r>
              <a:rPr lang="en-US" altLang="ja-JP" sz="2000"/>
              <a:t>2</a:t>
            </a:r>
            <a:r>
              <a:rPr sz="2000"/>
              <a:t>回点滅は、点灯・消灯を</a:t>
            </a:r>
            <a:r>
              <a:rPr lang="en-US" altLang="ja-JP" sz="2000"/>
              <a:t>0.25</a:t>
            </a:r>
            <a:r>
              <a:rPr sz="2000"/>
              <a:t>秒間隔で</a:t>
            </a:r>
            <a:r>
              <a:rPr lang="en-US" altLang="ja-JP" sz="2000"/>
              <a:t>2</a:t>
            </a:r>
            <a:r>
              <a:rPr sz="2000"/>
              <a:t>回繰り返すことで行う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sz="2000"/>
              <a:t>設定時間が経過すると、</a:t>
            </a:r>
            <a:r>
              <a:rPr lang="en-US" altLang="ja-JP" sz="2000"/>
              <a:t>LED4</a:t>
            </a:r>
            <a:r>
              <a:rPr sz="2000"/>
              <a:t>を</a:t>
            </a:r>
            <a:r>
              <a:rPr lang="en-US" altLang="ja-JP" sz="2000"/>
              <a:t>15</a:t>
            </a:r>
            <a:r>
              <a:rPr sz="2000"/>
              <a:t>秒間点滅させた後、消灯する．</a:t>
            </a:r>
            <a:r>
              <a:rPr lang="en-US" altLang="ja-JP" sz="2000"/>
              <a:t>LED4</a:t>
            </a:r>
            <a:r>
              <a:rPr sz="2000"/>
              <a:t>の点滅は、点灯・消灯を</a:t>
            </a:r>
            <a:r>
              <a:rPr lang="en-US" altLang="ja-JP" sz="2000"/>
              <a:t>0.25</a:t>
            </a:r>
            <a:r>
              <a:rPr sz="2000"/>
              <a:t>秒間隔で繰り返すことで行う</a:t>
            </a:r>
          </a:p>
        </p:txBody>
      </p:sp>
      <p:sp>
        <p:nvSpPr>
          <p:cNvPr id="251908" name="Line 30"/>
          <p:cNvSpPr>
            <a:spLocks noChangeShapeType="1"/>
          </p:cNvSpPr>
          <p:nvPr/>
        </p:nvSpPr>
        <p:spPr bwMode="auto">
          <a:xfrm flipV="1">
            <a:off x="6281738" y="5286375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09" name="Line 31"/>
          <p:cNvSpPr>
            <a:spLocks noChangeShapeType="1"/>
          </p:cNvSpPr>
          <p:nvPr/>
        </p:nvSpPr>
        <p:spPr bwMode="auto">
          <a:xfrm>
            <a:off x="6281738" y="5286375"/>
            <a:ext cx="533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10" name="Line 32"/>
          <p:cNvSpPr>
            <a:spLocks noChangeShapeType="1"/>
          </p:cNvSpPr>
          <p:nvPr/>
        </p:nvSpPr>
        <p:spPr bwMode="auto">
          <a:xfrm>
            <a:off x="6815138" y="5286375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11" name="Line 33"/>
          <p:cNvSpPr>
            <a:spLocks noChangeShapeType="1"/>
          </p:cNvSpPr>
          <p:nvPr/>
        </p:nvSpPr>
        <p:spPr bwMode="auto">
          <a:xfrm>
            <a:off x="3005138" y="5895975"/>
            <a:ext cx="3276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12" name="Text Box 34"/>
          <p:cNvSpPr txBox="1">
            <a:spLocks noChangeArrowheads="1"/>
          </p:cNvSpPr>
          <p:nvPr/>
        </p:nvSpPr>
        <p:spPr bwMode="auto">
          <a:xfrm>
            <a:off x="4137025" y="5895975"/>
            <a:ext cx="917575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800">
                <a:latin typeface="メイリオ" pitchFamily="50" charset="-128"/>
                <a:ea typeface="メイリオ" pitchFamily="50" charset="-128"/>
              </a:rPr>
              <a:t>10</a:t>
            </a:r>
            <a:r>
              <a:rPr lang="ja-JP" altLang="en-US" sz="1800">
                <a:latin typeface="メイリオ" pitchFamily="50" charset="-128"/>
                <a:ea typeface="メイリオ" pitchFamily="50" charset="-128"/>
              </a:rPr>
              <a:t>秒</a:t>
            </a:r>
          </a:p>
        </p:txBody>
      </p:sp>
      <p:sp>
        <p:nvSpPr>
          <p:cNvPr id="251913" name="Line 35"/>
          <p:cNvSpPr>
            <a:spLocks noChangeShapeType="1"/>
          </p:cNvSpPr>
          <p:nvPr/>
        </p:nvSpPr>
        <p:spPr bwMode="auto">
          <a:xfrm>
            <a:off x="862013" y="6199188"/>
            <a:ext cx="541972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14" name="Line 36"/>
          <p:cNvSpPr>
            <a:spLocks noChangeShapeType="1"/>
          </p:cNvSpPr>
          <p:nvPr/>
        </p:nvSpPr>
        <p:spPr bwMode="auto">
          <a:xfrm>
            <a:off x="6815138" y="5895975"/>
            <a:ext cx="533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15" name="Line 37"/>
          <p:cNvSpPr>
            <a:spLocks noChangeShapeType="1"/>
          </p:cNvSpPr>
          <p:nvPr/>
        </p:nvSpPr>
        <p:spPr bwMode="auto">
          <a:xfrm flipV="1">
            <a:off x="7348538" y="5286375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16" name="Line 38"/>
          <p:cNvSpPr>
            <a:spLocks noChangeShapeType="1"/>
          </p:cNvSpPr>
          <p:nvPr/>
        </p:nvSpPr>
        <p:spPr bwMode="auto">
          <a:xfrm>
            <a:off x="7348538" y="5286375"/>
            <a:ext cx="533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17" name="Line 39"/>
          <p:cNvSpPr>
            <a:spLocks noChangeShapeType="1"/>
          </p:cNvSpPr>
          <p:nvPr/>
        </p:nvSpPr>
        <p:spPr bwMode="auto">
          <a:xfrm>
            <a:off x="7881938" y="5286375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18" name="Line 40"/>
          <p:cNvSpPr>
            <a:spLocks noChangeShapeType="1"/>
          </p:cNvSpPr>
          <p:nvPr/>
        </p:nvSpPr>
        <p:spPr bwMode="auto">
          <a:xfrm>
            <a:off x="6281738" y="5057775"/>
            <a:ext cx="533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19" name="Line 41"/>
          <p:cNvSpPr>
            <a:spLocks noChangeShapeType="1"/>
          </p:cNvSpPr>
          <p:nvPr/>
        </p:nvSpPr>
        <p:spPr bwMode="auto">
          <a:xfrm flipV="1">
            <a:off x="6281738" y="4905375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20" name="Line 42"/>
          <p:cNvSpPr>
            <a:spLocks noChangeShapeType="1"/>
          </p:cNvSpPr>
          <p:nvPr/>
        </p:nvSpPr>
        <p:spPr bwMode="auto">
          <a:xfrm flipV="1">
            <a:off x="6815138" y="4905375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21" name="Line 43"/>
          <p:cNvSpPr>
            <a:spLocks noChangeShapeType="1"/>
          </p:cNvSpPr>
          <p:nvPr/>
        </p:nvSpPr>
        <p:spPr bwMode="auto">
          <a:xfrm flipV="1">
            <a:off x="7348538" y="4905375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22" name="Line 44"/>
          <p:cNvSpPr>
            <a:spLocks noChangeShapeType="1"/>
          </p:cNvSpPr>
          <p:nvPr/>
        </p:nvSpPr>
        <p:spPr bwMode="auto">
          <a:xfrm>
            <a:off x="7881938" y="5895975"/>
            <a:ext cx="533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23" name="Line 45"/>
          <p:cNvSpPr>
            <a:spLocks noChangeShapeType="1"/>
          </p:cNvSpPr>
          <p:nvPr/>
        </p:nvSpPr>
        <p:spPr bwMode="auto">
          <a:xfrm flipV="1">
            <a:off x="7881938" y="4905375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24" name="Line 46"/>
          <p:cNvSpPr>
            <a:spLocks noChangeShapeType="1"/>
          </p:cNvSpPr>
          <p:nvPr/>
        </p:nvSpPr>
        <p:spPr bwMode="auto">
          <a:xfrm flipV="1">
            <a:off x="8415338" y="4905375"/>
            <a:ext cx="1587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25" name="Line 47"/>
          <p:cNvSpPr>
            <a:spLocks noChangeShapeType="1"/>
          </p:cNvSpPr>
          <p:nvPr/>
        </p:nvSpPr>
        <p:spPr bwMode="auto">
          <a:xfrm>
            <a:off x="6815138" y="5057775"/>
            <a:ext cx="533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26" name="Line 48"/>
          <p:cNvSpPr>
            <a:spLocks noChangeShapeType="1"/>
          </p:cNvSpPr>
          <p:nvPr/>
        </p:nvSpPr>
        <p:spPr bwMode="auto">
          <a:xfrm>
            <a:off x="7348538" y="5057775"/>
            <a:ext cx="533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27" name="Line 49"/>
          <p:cNvSpPr>
            <a:spLocks noChangeShapeType="1"/>
          </p:cNvSpPr>
          <p:nvPr/>
        </p:nvSpPr>
        <p:spPr bwMode="auto">
          <a:xfrm>
            <a:off x="7881938" y="5057775"/>
            <a:ext cx="533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28" name="Line 50"/>
          <p:cNvSpPr>
            <a:spLocks noChangeShapeType="1"/>
          </p:cNvSpPr>
          <p:nvPr/>
        </p:nvSpPr>
        <p:spPr bwMode="auto">
          <a:xfrm flipH="1" flipV="1">
            <a:off x="2995613" y="4905375"/>
            <a:ext cx="9525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29" name="Text Box 51"/>
          <p:cNvSpPr txBox="1">
            <a:spLocks noChangeArrowheads="1"/>
          </p:cNvSpPr>
          <p:nvPr/>
        </p:nvSpPr>
        <p:spPr bwMode="auto">
          <a:xfrm>
            <a:off x="6227763" y="4752975"/>
            <a:ext cx="762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200">
                <a:latin typeface="メイリオ" pitchFamily="50" charset="-128"/>
                <a:ea typeface="メイリオ" pitchFamily="50" charset="-128"/>
              </a:rPr>
              <a:t>0.25</a:t>
            </a:r>
            <a:r>
              <a:rPr lang="ja-JP" altLang="en-US" sz="1200">
                <a:latin typeface="メイリオ" pitchFamily="50" charset="-128"/>
                <a:ea typeface="メイリオ" pitchFamily="50" charset="-128"/>
              </a:rPr>
              <a:t>秒</a:t>
            </a:r>
          </a:p>
        </p:txBody>
      </p:sp>
      <p:sp>
        <p:nvSpPr>
          <p:cNvPr id="251930" name="Text Box 52"/>
          <p:cNvSpPr txBox="1">
            <a:spLocks noChangeArrowheads="1"/>
          </p:cNvSpPr>
          <p:nvPr/>
        </p:nvSpPr>
        <p:spPr bwMode="auto">
          <a:xfrm>
            <a:off x="6761163" y="4752975"/>
            <a:ext cx="762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200">
                <a:latin typeface="メイリオ" pitchFamily="50" charset="-128"/>
                <a:ea typeface="メイリオ" pitchFamily="50" charset="-128"/>
              </a:rPr>
              <a:t>0.25</a:t>
            </a:r>
            <a:r>
              <a:rPr lang="ja-JP" altLang="en-US" sz="1200">
                <a:latin typeface="メイリオ" pitchFamily="50" charset="-128"/>
                <a:ea typeface="メイリオ" pitchFamily="50" charset="-128"/>
              </a:rPr>
              <a:t>秒</a:t>
            </a:r>
          </a:p>
        </p:txBody>
      </p:sp>
      <p:sp>
        <p:nvSpPr>
          <p:cNvPr id="251931" name="Text Box 53"/>
          <p:cNvSpPr txBox="1">
            <a:spLocks noChangeArrowheads="1"/>
          </p:cNvSpPr>
          <p:nvPr/>
        </p:nvSpPr>
        <p:spPr bwMode="auto">
          <a:xfrm>
            <a:off x="7294563" y="4752975"/>
            <a:ext cx="762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200">
                <a:latin typeface="メイリオ" pitchFamily="50" charset="-128"/>
                <a:ea typeface="メイリオ" pitchFamily="50" charset="-128"/>
              </a:rPr>
              <a:t>0.25</a:t>
            </a:r>
            <a:r>
              <a:rPr lang="ja-JP" altLang="en-US" sz="1200">
                <a:latin typeface="メイリオ" pitchFamily="50" charset="-128"/>
                <a:ea typeface="メイリオ" pitchFamily="50" charset="-128"/>
              </a:rPr>
              <a:t>秒</a:t>
            </a:r>
          </a:p>
        </p:txBody>
      </p:sp>
      <p:sp>
        <p:nvSpPr>
          <p:cNvPr id="251932" name="Text Box 54"/>
          <p:cNvSpPr txBox="1">
            <a:spLocks noChangeArrowheads="1"/>
          </p:cNvSpPr>
          <p:nvPr/>
        </p:nvSpPr>
        <p:spPr bwMode="auto">
          <a:xfrm>
            <a:off x="7827963" y="4752975"/>
            <a:ext cx="762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200">
                <a:latin typeface="メイリオ" pitchFamily="50" charset="-128"/>
                <a:ea typeface="メイリオ" pitchFamily="50" charset="-128"/>
              </a:rPr>
              <a:t>0.25</a:t>
            </a:r>
            <a:r>
              <a:rPr lang="ja-JP" altLang="en-US" sz="1200">
                <a:latin typeface="メイリオ" pitchFamily="50" charset="-128"/>
                <a:ea typeface="メイリオ" pitchFamily="50" charset="-128"/>
              </a:rPr>
              <a:t>秒</a:t>
            </a:r>
          </a:p>
        </p:txBody>
      </p:sp>
      <p:sp>
        <p:nvSpPr>
          <p:cNvPr id="251933" name="Line 55"/>
          <p:cNvSpPr>
            <a:spLocks noChangeShapeType="1"/>
          </p:cNvSpPr>
          <p:nvPr/>
        </p:nvSpPr>
        <p:spPr bwMode="auto">
          <a:xfrm flipV="1">
            <a:off x="6281738" y="4905375"/>
            <a:ext cx="1587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34" name="Line 56"/>
          <p:cNvSpPr>
            <a:spLocks noChangeShapeType="1"/>
          </p:cNvSpPr>
          <p:nvPr/>
        </p:nvSpPr>
        <p:spPr bwMode="auto">
          <a:xfrm flipV="1">
            <a:off x="862013" y="5287963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35" name="Line 57"/>
          <p:cNvSpPr>
            <a:spLocks noChangeShapeType="1"/>
          </p:cNvSpPr>
          <p:nvPr/>
        </p:nvSpPr>
        <p:spPr bwMode="auto">
          <a:xfrm>
            <a:off x="862013" y="5287963"/>
            <a:ext cx="533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36" name="Line 58"/>
          <p:cNvSpPr>
            <a:spLocks noChangeShapeType="1"/>
          </p:cNvSpPr>
          <p:nvPr/>
        </p:nvSpPr>
        <p:spPr bwMode="auto">
          <a:xfrm>
            <a:off x="1395413" y="5287963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37" name="Line 59"/>
          <p:cNvSpPr>
            <a:spLocks noChangeShapeType="1"/>
          </p:cNvSpPr>
          <p:nvPr/>
        </p:nvSpPr>
        <p:spPr bwMode="auto">
          <a:xfrm>
            <a:off x="1395413" y="5897563"/>
            <a:ext cx="533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38" name="Line 60"/>
          <p:cNvSpPr>
            <a:spLocks noChangeShapeType="1"/>
          </p:cNvSpPr>
          <p:nvPr/>
        </p:nvSpPr>
        <p:spPr bwMode="auto">
          <a:xfrm flipV="1">
            <a:off x="1928813" y="5287963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39" name="Line 61"/>
          <p:cNvSpPr>
            <a:spLocks noChangeShapeType="1"/>
          </p:cNvSpPr>
          <p:nvPr/>
        </p:nvSpPr>
        <p:spPr bwMode="auto">
          <a:xfrm>
            <a:off x="1928813" y="5287963"/>
            <a:ext cx="533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40" name="Line 62"/>
          <p:cNvSpPr>
            <a:spLocks noChangeShapeType="1"/>
          </p:cNvSpPr>
          <p:nvPr/>
        </p:nvSpPr>
        <p:spPr bwMode="auto">
          <a:xfrm>
            <a:off x="2462213" y="5287963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41" name="Line 63"/>
          <p:cNvSpPr>
            <a:spLocks noChangeShapeType="1"/>
          </p:cNvSpPr>
          <p:nvPr/>
        </p:nvSpPr>
        <p:spPr bwMode="auto">
          <a:xfrm>
            <a:off x="862013" y="5059363"/>
            <a:ext cx="533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42" name="Line 64"/>
          <p:cNvSpPr>
            <a:spLocks noChangeShapeType="1"/>
          </p:cNvSpPr>
          <p:nvPr/>
        </p:nvSpPr>
        <p:spPr bwMode="auto">
          <a:xfrm flipV="1">
            <a:off x="862013" y="4906963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43" name="Line 65"/>
          <p:cNvSpPr>
            <a:spLocks noChangeShapeType="1"/>
          </p:cNvSpPr>
          <p:nvPr/>
        </p:nvSpPr>
        <p:spPr bwMode="auto">
          <a:xfrm flipV="1">
            <a:off x="1395413" y="4906963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44" name="Line 66"/>
          <p:cNvSpPr>
            <a:spLocks noChangeShapeType="1"/>
          </p:cNvSpPr>
          <p:nvPr/>
        </p:nvSpPr>
        <p:spPr bwMode="auto">
          <a:xfrm flipV="1">
            <a:off x="1928813" y="4906963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45" name="Line 67"/>
          <p:cNvSpPr>
            <a:spLocks noChangeShapeType="1"/>
          </p:cNvSpPr>
          <p:nvPr/>
        </p:nvSpPr>
        <p:spPr bwMode="auto">
          <a:xfrm>
            <a:off x="2462213" y="5897563"/>
            <a:ext cx="533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46" name="Line 68"/>
          <p:cNvSpPr>
            <a:spLocks noChangeShapeType="1"/>
          </p:cNvSpPr>
          <p:nvPr/>
        </p:nvSpPr>
        <p:spPr bwMode="auto">
          <a:xfrm flipV="1">
            <a:off x="2462213" y="4906963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47" name="Line 69"/>
          <p:cNvSpPr>
            <a:spLocks noChangeShapeType="1"/>
          </p:cNvSpPr>
          <p:nvPr/>
        </p:nvSpPr>
        <p:spPr bwMode="auto">
          <a:xfrm>
            <a:off x="1395413" y="5059363"/>
            <a:ext cx="533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48" name="Line 70"/>
          <p:cNvSpPr>
            <a:spLocks noChangeShapeType="1"/>
          </p:cNvSpPr>
          <p:nvPr/>
        </p:nvSpPr>
        <p:spPr bwMode="auto">
          <a:xfrm>
            <a:off x="1928813" y="5059363"/>
            <a:ext cx="533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49" name="Line 71"/>
          <p:cNvSpPr>
            <a:spLocks noChangeShapeType="1"/>
          </p:cNvSpPr>
          <p:nvPr/>
        </p:nvSpPr>
        <p:spPr bwMode="auto">
          <a:xfrm>
            <a:off x="2462213" y="5059363"/>
            <a:ext cx="533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51950" name="Text Box 72"/>
          <p:cNvSpPr txBox="1">
            <a:spLocks noChangeArrowheads="1"/>
          </p:cNvSpPr>
          <p:nvPr/>
        </p:nvSpPr>
        <p:spPr bwMode="auto">
          <a:xfrm>
            <a:off x="793750" y="4754563"/>
            <a:ext cx="762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200">
                <a:latin typeface="メイリオ" pitchFamily="50" charset="-128"/>
                <a:ea typeface="メイリオ" pitchFamily="50" charset="-128"/>
              </a:rPr>
              <a:t>0.25</a:t>
            </a:r>
            <a:r>
              <a:rPr lang="ja-JP" altLang="en-US" sz="1200">
                <a:latin typeface="メイリオ" pitchFamily="50" charset="-128"/>
                <a:ea typeface="メイリオ" pitchFamily="50" charset="-128"/>
              </a:rPr>
              <a:t>秒</a:t>
            </a:r>
          </a:p>
        </p:txBody>
      </p:sp>
      <p:sp>
        <p:nvSpPr>
          <p:cNvPr id="251951" name="Text Box 73"/>
          <p:cNvSpPr txBox="1">
            <a:spLocks noChangeArrowheads="1"/>
          </p:cNvSpPr>
          <p:nvPr/>
        </p:nvSpPr>
        <p:spPr bwMode="auto">
          <a:xfrm>
            <a:off x="1327150" y="4754563"/>
            <a:ext cx="762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200">
                <a:latin typeface="メイリオ" pitchFamily="50" charset="-128"/>
                <a:ea typeface="メイリオ" pitchFamily="50" charset="-128"/>
              </a:rPr>
              <a:t>0.25</a:t>
            </a:r>
            <a:r>
              <a:rPr lang="ja-JP" altLang="en-US" sz="1200">
                <a:latin typeface="メイリオ" pitchFamily="50" charset="-128"/>
                <a:ea typeface="メイリオ" pitchFamily="50" charset="-128"/>
              </a:rPr>
              <a:t>秒</a:t>
            </a:r>
          </a:p>
        </p:txBody>
      </p:sp>
      <p:sp>
        <p:nvSpPr>
          <p:cNvPr id="251952" name="Text Box 74"/>
          <p:cNvSpPr txBox="1">
            <a:spLocks noChangeArrowheads="1"/>
          </p:cNvSpPr>
          <p:nvPr/>
        </p:nvSpPr>
        <p:spPr bwMode="auto">
          <a:xfrm>
            <a:off x="1860550" y="4754563"/>
            <a:ext cx="762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200">
                <a:latin typeface="メイリオ" pitchFamily="50" charset="-128"/>
                <a:ea typeface="メイリオ" pitchFamily="50" charset="-128"/>
              </a:rPr>
              <a:t>0.25</a:t>
            </a:r>
            <a:r>
              <a:rPr lang="ja-JP" altLang="en-US" sz="1200">
                <a:latin typeface="メイリオ" pitchFamily="50" charset="-128"/>
                <a:ea typeface="メイリオ" pitchFamily="50" charset="-128"/>
              </a:rPr>
              <a:t>秒</a:t>
            </a:r>
          </a:p>
        </p:txBody>
      </p:sp>
      <p:sp>
        <p:nvSpPr>
          <p:cNvPr id="251953" name="Text Box 75"/>
          <p:cNvSpPr txBox="1">
            <a:spLocks noChangeArrowheads="1"/>
          </p:cNvSpPr>
          <p:nvPr/>
        </p:nvSpPr>
        <p:spPr bwMode="auto">
          <a:xfrm>
            <a:off x="2393950" y="4754563"/>
            <a:ext cx="762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200">
                <a:latin typeface="メイリオ" pitchFamily="50" charset="-128"/>
                <a:ea typeface="メイリオ" pitchFamily="50" charset="-128"/>
              </a:rPr>
              <a:t>0.25</a:t>
            </a:r>
            <a:r>
              <a:rPr lang="ja-JP" altLang="en-US" sz="1200">
                <a:latin typeface="メイリオ" pitchFamily="50" charset="-128"/>
                <a:ea typeface="メイリオ" pitchFamily="50" charset="-128"/>
              </a:rPr>
              <a:t>秒</a:t>
            </a:r>
          </a:p>
        </p:txBody>
      </p:sp>
      <p:sp>
        <p:nvSpPr>
          <p:cNvPr id="251954" name="Line 76"/>
          <p:cNvSpPr>
            <a:spLocks noChangeShapeType="1"/>
          </p:cNvSpPr>
          <p:nvPr/>
        </p:nvSpPr>
        <p:spPr bwMode="auto">
          <a:xfrm flipV="1">
            <a:off x="862013" y="4906963"/>
            <a:ext cx="1587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12-</a:t>
            </a:r>
            <a:fld id="{A4964774-7B05-44A0-B471-8A7C9D589FA5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600200"/>
            <a:ext cx="7772400" cy="457200"/>
          </a:xfrm>
        </p:spPr>
        <p:txBody>
          <a:bodyPr/>
          <a:lstStyle/>
          <a:p>
            <a:pPr eaLnBrk="1" hangingPunct="1"/>
            <a:r>
              <a:rPr lang="ja-JP" altLang="en-US" sz="3200" b="1">
                <a:solidFill>
                  <a:srgbClr val="99CC00"/>
                </a:solidFill>
              </a:rPr>
              <a:t>カップラーメンタイマーの実装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43475" y="3429000"/>
            <a:ext cx="3849688" cy="2133600"/>
          </a:xfrm>
        </p:spPr>
        <p:txBody>
          <a:bodyPr/>
          <a:lstStyle/>
          <a:p>
            <a:pPr marL="457200" indent="-457200" eaLnBrk="1" hangingPunct="1">
              <a:buFontTx/>
              <a:buAutoNum type="arabicPeriod"/>
            </a:pPr>
            <a:r>
              <a:t>仕様</a:t>
            </a:r>
          </a:p>
          <a:p>
            <a:pPr marL="457200" indent="-457200" eaLnBrk="1" hangingPunct="1">
              <a:buFontTx/>
              <a:buAutoNum type="arabicPeriod"/>
            </a:pPr>
            <a:r>
              <a:rPr u="sng">
                <a:solidFill>
                  <a:srgbClr val="FF0066"/>
                </a:solidFill>
              </a:rPr>
              <a:t>設計</a:t>
            </a:r>
          </a:p>
          <a:p>
            <a:pPr marL="457200" indent="-457200" eaLnBrk="1" hangingPunct="1">
              <a:buFontTx/>
              <a:buAutoNum type="arabicPeriod"/>
            </a:pPr>
            <a:r>
              <a:t>実装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12-</a:t>
            </a:r>
            <a:fld id="{A4964774-7B05-44A0-B471-8A7C9D589FA5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設計 </a:t>
            </a:r>
            <a:r>
              <a:rPr lang="en-US" altLang="ja-JP"/>
              <a:t>: </a:t>
            </a:r>
            <a:r>
              <a:rPr lang="ja-JP" altLang="en-US"/>
              <a:t>基本設計方針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t>タスク</a:t>
            </a:r>
          </a:p>
          <a:p>
            <a:pPr lvl="1" eaLnBrk="1" hangingPunct="1">
              <a:buFont typeface="Arial" charset="0"/>
              <a:buChar char="•"/>
            </a:pPr>
            <a:r>
              <a:t>タイマーを管理するタイマータスクと，</a:t>
            </a:r>
            <a:r>
              <a:rPr lang="en-US" altLang="ja-JP"/>
              <a:t>LED4</a:t>
            </a:r>
            <a:r>
              <a:t>の点滅を行う</a:t>
            </a:r>
            <a:r>
              <a:rPr lang="en-US" altLang="ja-JP"/>
              <a:t>LED4</a:t>
            </a:r>
            <a:r>
              <a:t>点滅タスクの</a:t>
            </a:r>
            <a:r>
              <a:rPr lang="en-US" altLang="ja-JP"/>
              <a:t>2</a:t>
            </a:r>
            <a:r>
              <a:t>つ</a:t>
            </a:r>
          </a:p>
          <a:p>
            <a:pPr lvl="1" eaLnBrk="1" hangingPunct="1">
              <a:buFont typeface="Arial" charset="0"/>
              <a:buChar char="•"/>
            </a:pPr>
            <a:endParaRPr/>
          </a:p>
          <a:p>
            <a:pPr eaLnBrk="1" hangingPunct="1">
              <a:buFont typeface="Arial" charset="0"/>
              <a:buChar char="•"/>
            </a:pPr>
            <a:r>
              <a:t>周期ハンドラ</a:t>
            </a:r>
          </a:p>
          <a:p>
            <a:pPr lvl="1" eaLnBrk="1" hangingPunct="1">
              <a:buFont typeface="Arial" charset="0"/>
              <a:buChar char="•"/>
            </a:pPr>
            <a:r>
              <a:t>スイッチの状態取得は周期ハンドラで行う</a:t>
            </a:r>
          </a:p>
          <a:p>
            <a:pPr lvl="1" eaLnBrk="1" hangingPunct="1">
              <a:buFont typeface="Arial" charset="0"/>
              <a:buChar char="•"/>
            </a:pPr>
            <a:r>
              <a:t>各種時間生成も周期ハンドラで行う</a:t>
            </a:r>
          </a:p>
          <a:p>
            <a:pPr lvl="1" eaLnBrk="1" hangingPunct="1">
              <a:buFont typeface="Arial" charset="0"/>
              <a:buChar char="•"/>
            </a:pPr>
            <a:endParaRPr/>
          </a:p>
          <a:p>
            <a:pPr eaLnBrk="1" hangingPunct="1">
              <a:buFont typeface="Arial" charset="0"/>
              <a:buChar char="•"/>
            </a:pPr>
            <a:r>
              <a:t>イベント通知</a:t>
            </a:r>
          </a:p>
          <a:p>
            <a:pPr lvl="1" eaLnBrk="1" hangingPunct="1">
              <a:buFont typeface="Arial" charset="0"/>
              <a:buChar char="•"/>
            </a:pPr>
            <a:r>
              <a:t>周期ハンドラ</a:t>
            </a:r>
            <a:r>
              <a:rPr lang="en-US" altLang="ja-JP"/>
              <a:t>-</a:t>
            </a:r>
            <a:r>
              <a:t>タスク間、タスク間のイベント通知はイベントフラグにより行う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12-</a:t>
            </a:r>
            <a:fld id="{A4964774-7B05-44A0-B471-8A7C9D589FA5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設計 </a:t>
            </a:r>
            <a:r>
              <a:rPr lang="en-US" altLang="ja-JP"/>
              <a:t>: </a:t>
            </a:r>
            <a:r>
              <a:rPr lang="ja-JP" altLang="en-US"/>
              <a:t>タイマータスク</a:t>
            </a:r>
          </a:p>
        </p:txBody>
      </p:sp>
      <p:sp>
        <p:nvSpPr>
          <p:cNvPr id="1350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7772400" cy="114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Char char="•"/>
            </a:pPr>
            <a:r>
              <a:t>イベント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altLang="ja-JP"/>
              <a:t>SW1 ON,  SW1 OFF, PUSH1</a:t>
            </a:r>
            <a:r>
              <a:t>が</a:t>
            </a:r>
            <a:r>
              <a:rPr lang="en-US" altLang="ja-JP"/>
              <a:t>ON, 1</a:t>
            </a:r>
            <a:r>
              <a:t>秒経過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•"/>
            </a:pPr>
            <a:r>
              <a:t>状態遷移図</a:t>
            </a:r>
          </a:p>
        </p:txBody>
      </p:sp>
      <p:graphicFrame>
        <p:nvGraphicFramePr>
          <p:cNvPr id="1350664" name="Object 8"/>
          <p:cNvGraphicFramePr>
            <a:graphicFrameLocks noChangeAspect="1"/>
          </p:cNvGraphicFramePr>
          <p:nvPr/>
        </p:nvGraphicFramePr>
        <p:xfrm>
          <a:off x="1447800" y="2286000"/>
          <a:ext cx="7010400" cy="370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419249" imgH="2862739" progId="">
                  <p:embed/>
                </p:oleObj>
              </mc:Choice>
              <mc:Fallback>
                <p:oleObj name="Visio" r:id="rId3" imgW="5419249" imgH="2862739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286000"/>
                        <a:ext cx="7010400" cy="370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0668" name="Text Box 5"/>
          <p:cNvSpPr txBox="1">
            <a:spLocks noChangeArrowheads="1"/>
          </p:cNvSpPr>
          <p:nvPr/>
        </p:nvSpPr>
        <p:spPr bwMode="auto">
          <a:xfrm>
            <a:off x="6007660" y="2286001"/>
            <a:ext cx="924080" cy="3161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altLang="ja-JP" sz="1600" dirty="0">
                <a:latin typeface="メイリオ" pitchFamily="50" charset="-128"/>
                <a:ea typeface="メイリオ" pitchFamily="50" charset="-128"/>
              </a:rPr>
              <a:t>PUSH1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12-</a:t>
            </a:r>
            <a:fld id="{A4964774-7B05-44A0-B471-8A7C9D589FA5}" type="slidenum">
              <a:rPr lang="en-US" altLang="ja-JP" smtClean="0"/>
              <a:pPr>
                <a:defRPr/>
              </a:pPr>
              <a:t>6</a:t>
            </a:fld>
            <a:endParaRPr lang="en-US" altLang="ja-JP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設計 </a:t>
            </a:r>
            <a:r>
              <a:rPr lang="en-US" altLang="ja-JP"/>
              <a:t>: LED4</a:t>
            </a:r>
            <a:r>
              <a:rPr lang="ja-JP" altLang="en-US"/>
              <a:t>点滅タスク</a:t>
            </a:r>
          </a:p>
        </p:txBody>
      </p:sp>
      <p:sp>
        <p:nvSpPr>
          <p:cNvPr id="1351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7978775" cy="114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Char char="•"/>
            </a:pPr>
            <a:r>
              <a:t>イベント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altLang="ja-JP"/>
              <a:t>4</a:t>
            </a:r>
            <a:r>
              <a:t>回点滅要求</a:t>
            </a:r>
            <a:r>
              <a:rPr lang="en-US" altLang="ja-JP"/>
              <a:t>, </a:t>
            </a:r>
            <a:r>
              <a:t>タイムアウト通知</a:t>
            </a:r>
            <a:r>
              <a:rPr lang="en-US" altLang="ja-JP"/>
              <a:t>,  OFF</a:t>
            </a:r>
            <a:r>
              <a:t>通知</a:t>
            </a:r>
            <a:r>
              <a:rPr lang="en-US" altLang="ja-JP"/>
              <a:t>, 0.25</a:t>
            </a:r>
            <a:r>
              <a:t>秒経過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•"/>
            </a:pPr>
            <a:r>
              <a:t>状態遷移図</a:t>
            </a:r>
          </a:p>
        </p:txBody>
      </p:sp>
      <p:graphicFrame>
        <p:nvGraphicFramePr>
          <p:cNvPr id="1351688" name="Object 8"/>
          <p:cNvGraphicFramePr>
            <a:graphicFrameLocks noChangeAspect="1"/>
          </p:cNvGraphicFramePr>
          <p:nvPr/>
        </p:nvGraphicFramePr>
        <p:xfrm>
          <a:off x="1676400" y="2362200"/>
          <a:ext cx="5791200" cy="362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248751" imgH="3287078" progId="">
                  <p:embed/>
                </p:oleObj>
              </mc:Choice>
              <mc:Fallback>
                <p:oleObj name="Visio" r:id="rId3" imgW="5248751" imgH="3287078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5791200" cy="362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12-</a:t>
            </a:r>
            <a:fld id="{A4964774-7B05-44A0-B471-8A7C9D589FA5}" type="slidenum">
              <a:rPr lang="en-US" altLang="ja-JP" smtClean="0"/>
              <a:pPr>
                <a:defRPr/>
              </a:pPr>
              <a:t>7</a:t>
            </a:fld>
            <a:endParaRPr lang="en-US" altLang="ja-JP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設計 </a:t>
            </a:r>
            <a:r>
              <a:rPr lang="en-US" altLang="ja-JP"/>
              <a:t>: </a:t>
            </a:r>
            <a:r>
              <a:rPr lang="ja-JP" altLang="en-US"/>
              <a:t>周期ハンドラと初期化ルーチン</a:t>
            </a:r>
          </a:p>
        </p:txBody>
      </p:sp>
      <p:sp>
        <p:nvSpPr>
          <p:cNvPr id="135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t>周期ハンドラ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ja-JP"/>
              <a:t>LED1</a:t>
            </a:r>
            <a:r>
              <a:t>点滅ハンドラ 		</a:t>
            </a:r>
            <a:r>
              <a:rPr lang="en-US" altLang="ja-JP"/>
              <a:t>	: 1</a:t>
            </a:r>
            <a:r>
              <a:t>秒周期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ja-JP"/>
              <a:t>LED4</a:t>
            </a:r>
            <a:r>
              <a:t>点滅時間生成ハンドラ 	</a:t>
            </a:r>
            <a:r>
              <a:rPr lang="en-US" altLang="ja-JP"/>
              <a:t>: 250m</a:t>
            </a:r>
            <a:r>
              <a:t>周期</a:t>
            </a:r>
          </a:p>
          <a:p>
            <a:pPr lvl="1" eaLnBrk="1" hangingPunct="1">
              <a:buFont typeface="Arial" charset="0"/>
              <a:buChar char="•"/>
            </a:pPr>
            <a:r>
              <a:t>スイッチ状態取得ハンドラ	</a:t>
            </a:r>
            <a:r>
              <a:rPr lang="en-US" altLang="ja-JP"/>
              <a:t>	: 10m</a:t>
            </a:r>
            <a:r>
              <a:t>周期</a:t>
            </a:r>
          </a:p>
          <a:p>
            <a:pPr lvl="1" eaLnBrk="1" hangingPunct="1">
              <a:buFont typeface="Arial" charset="0"/>
              <a:buChar char="•"/>
            </a:pPr>
            <a:r>
              <a:t>基本時間生成ハンドラ		</a:t>
            </a:r>
            <a:r>
              <a:rPr lang="en-US" altLang="ja-JP"/>
              <a:t>: 1</a:t>
            </a:r>
            <a:r>
              <a:t>秒周期</a:t>
            </a:r>
          </a:p>
          <a:p>
            <a:pPr eaLnBrk="1" hangingPunct="1">
              <a:buFont typeface="Arial" charset="0"/>
              <a:buChar char="•"/>
            </a:pPr>
            <a:endParaRPr/>
          </a:p>
          <a:p>
            <a:pPr eaLnBrk="1" hangingPunct="1">
              <a:buFont typeface="Arial" charset="0"/>
              <a:buChar char="•"/>
            </a:pPr>
            <a:r>
              <a:t>初期化ルーチン</a:t>
            </a:r>
          </a:p>
          <a:p>
            <a:pPr lvl="1" eaLnBrk="1" hangingPunct="1">
              <a:buFont typeface="Arial" charset="0"/>
              <a:buChar char="•"/>
            </a:pPr>
            <a:r>
              <a:t>ハードウェアを初期化</a:t>
            </a:r>
          </a:p>
          <a:p>
            <a:pPr lvl="1" eaLnBrk="1" hangingPunct="1">
              <a:buFont typeface="Arial" charset="0"/>
              <a:buChar char="•"/>
            </a:pPr>
            <a:r>
              <a:t>スイッチの初期状態を初期化</a:t>
            </a:r>
          </a:p>
          <a:p>
            <a:pPr lvl="1" eaLnBrk="1" hangingPunct="1">
              <a:buFont typeface="Arial" charset="0"/>
              <a:buChar char="•"/>
            </a:pPr>
            <a:endParaRPr lang="en-US" altLang="ja-JP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12-</a:t>
            </a:r>
            <a:fld id="{A4964774-7B05-44A0-B471-8A7C9D589FA5}" type="slidenum">
              <a:rPr lang="en-US" altLang="ja-JP" smtClean="0"/>
              <a:pPr>
                <a:defRPr/>
              </a:pPr>
              <a:t>8</a:t>
            </a:fld>
            <a:endParaRPr lang="en-US" alt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CESS_緑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FF0066"/>
      </a:folHlink>
    </a:clrScheme>
    <a:fontScheme name="NEXCESS_緑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99CC00">
            <a:alpha val="50195"/>
          </a:srgbClr>
        </a:solidFill>
        <a:ln w="28575">
          <a:noFill/>
          <a:miter lim="800000"/>
          <a:headEnd/>
          <a:tailEnd/>
        </a:ln>
      </a:spPr>
      <a:bodyPr anchor="ctr"/>
      <a:lstStyle>
        <a:defPPr algn="ctr">
          <a:lnSpc>
            <a:spcPct val="90000"/>
          </a:lnSpc>
          <a:spcBef>
            <a:spcPct val="20000"/>
          </a:spcBef>
          <a:defRPr>
            <a:latin typeface="メイリオ" pitchFamily="50" charset="-128"/>
            <a:ea typeface="メイリオ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ＭＳ ゴシック" pitchFamily="49" charset="-128"/>
          </a:defRPr>
        </a:defPPr>
      </a:lstStyle>
    </a:lnDef>
  </a:objectDefaults>
  <a:extraClrSchemeLst>
    <a:extraClrScheme>
      <a:clrScheme name="NEXCESS_緑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XCESS_緑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XCESS_緑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XCESS_緑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XCESS_緑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XCESS_緑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XCESS_緑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276</Words>
  <Application>Microsoft Office PowerPoint</Application>
  <PresentationFormat>画面に合わせる (4:3)</PresentationFormat>
  <Paragraphs>80</Paragraphs>
  <Slides>8</Slides>
  <Notes>8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ＭＳ Ｐゴシック</vt:lpstr>
      <vt:lpstr>メイリオ</vt:lpstr>
      <vt:lpstr>Arial</vt:lpstr>
      <vt:lpstr>Arial Black</vt:lpstr>
      <vt:lpstr>Times New Roman</vt:lpstr>
      <vt:lpstr>NEXCESS_緑</vt:lpstr>
      <vt:lpstr>Visio</vt:lpstr>
      <vt:lpstr>カップラーメンタイマーの実装</vt:lpstr>
      <vt:lpstr>カップラーメンタイマの仕様</vt:lpstr>
      <vt:lpstr>カップラーメンタイマの仕様</vt:lpstr>
      <vt:lpstr>カップラーメンタイマーの実装</vt:lpstr>
      <vt:lpstr>設計 : 基本設計方針</vt:lpstr>
      <vt:lpstr>設計 : タイマータスク</vt:lpstr>
      <vt:lpstr>設計 : LED4点滅タスク</vt:lpstr>
      <vt:lpstr>設計 : 周期ハンドラと初期化ルーチン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NEP基礎コース01  組込みソフトウェア開発技術の基礎 ITRONプログラミング実習編</dc:title>
  <dc:creator/>
  <cp:lastModifiedBy>HONDA Shinya</cp:lastModifiedBy>
  <cp:revision>8</cp:revision>
  <dcterms:created xsi:type="dcterms:W3CDTF">2014-03-18T08:11:33Z</dcterms:created>
  <dcterms:modified xsi:type="dcterms:W3CDTF">2026-06-22T07:38:20Z</dcterms:modified>
</cp:coreProperties>
</file>